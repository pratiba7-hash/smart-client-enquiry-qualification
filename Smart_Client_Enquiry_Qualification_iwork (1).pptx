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e1a6d3b4884c8f" /><Relationship Type="http://schemas.openxmlformats.org/officeDocument/2006/relationships/extended-properties" Target="/docProps/app.xml" Id="Rb916ff8e59d94d3a" /><Relationship Type="http://schemas.openxmlformats.org/officeDocument/2006/relationships/officeDocument" Target="/ppt/presentation.xml" Id="R9fc0c8cc88404b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d8d02a6e9d4d89"/>
  </p:sldMasterIdLst>
  <p:notesMasterIdLst>
    <p:notesMasterId xmlns:r="http://schemas.openxmlformats.org/officeDocument/2006/relationships" r:id="Rc38e94a8c8594e07"/>
  </p:notesMasterIdLst>
  <p:sldIdLst>
    <p:sldId xmlns:r="http://schemas.openxmlformats.org/officeDocument/2006/relationships" id="256" r:id="Rab444e53db5e4d76"/>
    <p:sldId xmlns:r="http://schemas.openxmlformats.org/officeDocument/2006/relationships" id="257" r:id="R9c1f099a289c415c"/>
    <p:sldId xmlns:r="http://schemas.openxmlformats.org/officeDocument/2006/relationships" id="258" r:id="R2f4a5059e7e44f38"/>
    <p:sldId xmlns:r="http://schemas.openxmlformats.org/officeDocument/2006/relationships" id="259" r:id="R9acd388ea5a9473a"/>
    <p:sldId xmlns:r="http://schemas.openxmlformats.org/officeDocument/2006/relationships" id="260" r:id="R255541e2d51c42d2"/>
    <p:sldId xmlns:r="http://schemas.openxmlformats.org/officeDocument/2006/relationships" id="261" r:id="R9ef15773089d4555"/>
    <p:sldId xmlns:r="http://schemas.openxmlformats.org/officeDocument/2006/relationships" id="262" r:id="R837a53f8aea94e8b"/>
    <p:sldId xmlns:r="http://schemas.openxmlformats.org/officeDocument/2006/relationships" id="263" r:id="R8bf8cf9977ac4cfa"/>
    <p:sldId xmlns:r="http://schemas.openxmlformats.org/officeDocument/2006/relationships" id="264" r:id="R9c5987def05a423e"/>
    <p:sldId xmlns:r="http://schemas.openxmlformats.org/officeDocument/2006/relationships" id="265" r:id="R3bf2826761db478b"/>
    <p:sldId xmlns:r="http://schemas.openxmlformats.org/officeDocument/2006/relationships" id="266" r:id="R52eca39c871a4dce"/>
    <p:sldId xmlns:r="http://schemas.openxmlformats.org/officeDocument/2006/relationships" id="267" r:id="Rad56f2a7c4a14e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a584a01f9a47ed" /><Relationship Type="http://schemas.openxmlformats.org/officeDocument/2006/relationships/slideMaster" Target="/ppt/slideMasters/slideMaster1.xml" Id="R45d8d02a6e9d4d89" /><Relationship Type="http://schemas.openxmlformats.org/officeDocument/2006/relationships/notesMaster" Target="/ppt/notesMasters/notesMaster1.xml" Id="Rc38e94a8c8594e07" /><Relationship Type="http://schemas.openxmlformats.org/officeDocument/2006/relationships/presProps" Target="/ppt/presProps.xml" Id="R611936b4edea4201" /><Relationship Type="http://schemas.openxmlformats.org/officeDocument/2006/relationships/tableStyles" Target="/ppt/tableStyles.xml" Id="R483c6268084b4520" /><Relationship Type="http://schemas.openxmlformats.org/officeDocument/2006/relationships/slide" Target="/ppt/slides/slide1.xml" Id="Rab444e53db5e4d76" /><Relationship Type="http://schemas.openxmlformats.org/officeDocument/2006/relationships/slide" Target="/ppt/slides/slide2.xml" Id="R9c1f099a289c415c" /><Relationship Type="http://schemas.openxmlformats.org/officeDocument/2006/relationships/slide" Target="/ppt/slides/slide3.xml" Id="R2f4a5059e7e44f38" /><Relationship Type="http://schemas.openxmlformats.org/officeDocument/2006/relationships/slide" Target="/ppt/slides/slide4.xml" Id="R9acd388ea5a9473a" /><Relationship Type="http://schemas.openxmlformats.org/officeDocument/2006/relationships/slide" Target="/ppt/slides/slide5.xml" Id="R255541e2d51c42d2" /><Relationship Type="http://schemas.openxmlformats.org/officeDocument/2006/relationships/slide" Target="/ppt/slides/slide6.xml" Id="R9ef15773089d4555" /><Relationship Type="http://schemas.openxmlformats.org/officeDocument/2006/relationships/slide" Target="/ppt/slides/slide7.xml" Id="R837a53f8aea94e8b" /><Relationship Type="http://schemas.openxmlformats.org/officeDocument/2006/relationships/slide" Target="/ppt/slides/slide8.xml" Id="R8bf8cf9977ac4cfa" /><Relationship Type="http://schemas.openxmlformats.org/officeDocument/2006/relationships/slide" Target="/ppt/slides/slide9.xml" Id="R9c5987def05a423e" /><Relationship Type="http://schemas.openxmlformats.org/officeDocument/2006/relationships/slide" Target="/ppt/slides/slide10.xml" Id="R3bf2826761db478b" /><Relationship Type="http://schemas.openxmlformats.org/officeDocument/2006/relationships/slide" Target="/ppt/slides/slide11.xml" Id="R52eca39c871a4dce" /><Relationship Type="http://schemas.openxmlformats.org/officeDocument/2006/relationships/slide" Target="/ppt/slides/slide12.xml" Id="Rad56f2a7c4a14e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d7ddaecdf44c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3616488ee546a6" /><Relationship Type="http://schemas.openxmlformats.org/officeDocument/2006/relationships/notesMaster" Target="/ppt/notesMasters/notesMaster1.xml" Id="Ra33dc443afe14b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a68193a46947df" /><Relationship Type="http://schemas.openxmlformats.org/officeDocument/2006/relationships/notesMaster" Target="/ppt/notesMasters/notesMaster1.xml" Id="R77d83d42064644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65c2394943404b" /><Relationship Type="http://schemas.openxmlformats.org/officeDocument/2006/relationships/notesMaster" Target="/ppt/notesMasters/notesMaster1.xml" Id="Rab834cc47d2b4e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162270178949a5" /><Relationship Type="http://schemas.openxmlformats.org/officeDocument/2006/relationships/notesMaster" Target="/ppt/notesMasters/notesMaster1.xml" Id="R6822f7440dd242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e9dc4131854a7a" /><Relationship Type="http://schemas.openxmlformats.org/officeDocument/2006/relationships/notesMaster" Target="/ppt/notesMasters/notesMaster1.xml" Id="R13e61ec1cca34a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6aa6bd10eb41fc" /><Relationship Type="http://schemas.openxmlformats.org/officeDocument/2006/relationships/notesMaster" Target="/ppt/notesMasters/notesMaster1.xml" Id="R39952d15ab054a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538a1661fa4d33" /><Relationship Type="http://schemas.openxmlformats.org/officeDocument/2006/relationships/notesMaster" Target="/ppt/notesMasters/notesMaster1.xml" Id="R8a694a0efe6d41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37ec9e2d1344b8" /><Relationship Type="http://schemas.openxmlformats.org/officeDocument/2006/relationships/notesMaster" Target="/ppt/notesMasters/notesMaster1.xml" Id="R068cc169960547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5ce3b69d1b45c3" /><Relationship Type="http://schemas.openxmlformats.org/officeDocument/2006/relationships/notesMaster" Target="/ppt/notesMasters/notesMaster1.xml" Id="R2349a45efd8d43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e0341c6ead4a50" /><Relationship Type="http://schemas.openxmlformats.org/officeDocument/2006/relationships/notesMaster" Target="/ppt/notesMasters/notesMaster1.xml" Id="Rb6052bbe382a45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c69156c9cc4ade" /><Relationship Type="http://schemas.openxmlformats.org/officeDocument/2006/relationships/notesMaster" Target="/ppt/notesMasters/notesMaster1.xml" Id="Rf7abd66f688443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71b85c3e294840" /><Relationship Type="http://schemas.openxmlformats.org/officeDocument/2006/relationships/notesMaster" Target="/ppt/notesMasters/notesMaster1.xml" Id="R5f309e8049c540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dc03f8e8d4e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ab70056ecf4617" /><Relationship Type="http://schemas.openxmlformats.org/officeDocument/2006/relationships/slideLayout" Target="/ppt/slideLayouts/slideLayout1.xml" Id="R516536e0dc054c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6536e0dc054c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49574ee0c4f2f" /><Relationship Type="http://schemas.openxmlformats.org/officeDocument/2006/relationships/notesSlide" Target="/ppt/notesSlides/notesSlide1.xml" Id="Rc3d6bbd6597e43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910e6977c42ee" /><Relationship Type="http://schemas.openxmlformats.org/officeDocument/2006/relationships/notesSlide" Target="/ppt/notesSlides/notesSlide2.xml" Id="R11929810647b49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3ce4a199c4990" /><Relationship Type="http://schemas.openxmlformats.org/officeDocument/2006/relationships/notesSlide" Target="/ppt/notesSlides/notesSlide3.xml" Id="R5caa841cb2fa47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03cff3c4e410c" /><Relationship Type="http://schemas.openxmlformats.org/officeDocument/2006/relationships/notesSlide" Target="/ppt/notesSlides/notesSlide4.xml" Id="Rd9d88845eaee44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aee625b264316" /><Relationship Type="http://schemas.openxmlformats.org/officeDocument/2006/relationships/notesSlide" Target="/ppt/notesSlides/notesSlide5.xml" Id="Re41f66a90ba046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af607797c4c41" /><Relationship Type="http://schemas.openxmlformats.org/officeDocument/2006/relationships/notesSlide" Target="/ppt/notesSlides/notesSlide6.xml" Id="R9f5e0f7cf7b44c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1f6a65c6c460c" /><Relationship Type="http://schemas.openxmlformats.org/officeDocument/2006/relationships/notesSlide" Target="/ppt/notesSlides/notesSlide7.xml" Id="R4290495a86454a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469b98f65408a" /><Relationship Type="http://schemas.openxmlformats.org/officeDocument/2006/relationships/notesSlide" Target="/ppt/notesSlides/notesSlide8.xml" Id="Re17d2750e2764e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c13868cbe40ea" /><Relationship Type="http://schemas.openxmlformats.org/officeDocument/2006/relationships/notesSlide" Target="/ppt/notesSlides/notesSlide9.xml" Id="R772ec6f0f7be49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4803259354049" /><Relationship Type="http://schemas.openxmlformats.org/officeDocument/2006/relationships/notesSlide" Target="/ppt/notesSlides/notesSlide10.xml" Id="Rda0cb07034a24d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c9ad9888c4fdc" /><Relationship Type="http://schemas.openxmlformats.org/officeDocument/2006/relationships/notesSlide" Target="/ppt/notesSlides/notesSlide11.xml" Id="R3a8c3db0f9964e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c7370b9bd4e54" /><Relationship Type="http://schemas.openxmlformats.org/officeDocument/2006/relationships/notesSlide" Target="/ppt/notesSlides/notesSlide12.xml" Id="R81b26830c3214d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5D9F7-CE51-4F11-85DB-FEAA42B8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5776B-64DA-4860-A0CC-FA87286D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SMART CLIENT ENQUIRY</a:t>
            </a:r>
          </a:p>
          <a:p xmlns:a="http://schemas.openxmlformats.org/drawingml/2006/main">
            <a:pPr algn="l"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QUALIFICATION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50C8D-2571-4285-908B-9EBFC56F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2"/>
                </a:solidFill>
              </a:defRPr>
            </a:pPr>
            <a:r>
              <a:rPr sz="1875" b="0">
                <a:solidFill>
                  <a:srgbClr val="5B6472"/>
                </a:solidFill>
              </a:rPr>
              <a:t>A guided, AI-supported enquiry pathway for i@work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01AA0-AF60-43C4-99D3-F96C46B9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80A44-A9EC-4C20-864D-D823B93E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B8"/>
                </a:solidFill>
              </a:defRPr>
            </a:pPr>
            <a:r>
              <a:rPr sz="1425" b="1">
                <a:solidFill>
                  <a:srgbClr val="1677B8"/>
                </a:solidFill>
              </a:rPr>
              <a:t>Controlled 6–8 week 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C9D6B-0D20-432A-BCB6-9654C733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Presented by: Prathibha Srinivas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6FB9C-33F0-4FC8-8B86-52BB4204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28700"/>
            <a:ext cx="23241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657D6-8648-4442-AB8D-3CEC4F8E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621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B8"/>
                </a:solidFill>
              </a:defRPr>
            </a:pPr>
            <a:r>
              <a:rPr sz="2100" b="1">
                <a:solidFill>
                  <a:srgbClr val="1677B8"/>
                </a:solidFill>
              </a:rPr>
              <a:t>BETTER</a:t>
            </a:r>
          </a:p>
          <a:p xmlns:a="http://schemas.openxmlformats.org/drawingml/2006/main">
            <a:pPr algn="ctr">
              <a:defRPr sz="2100" b="1">
                <a:solidFill>
                  <a:srgbClr val="1677B8"/>
                </a:solidFill>
              </a:defRPr>
            </a:pPr>
            <a:r>
              <a:rPr sz="2100" b="1">
                <a:solidFill>
                  <a:srgbClr val="1677B8"/>
                </a:solidFill>
              </a:rPr>
              <a:t>ENQUIRIES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CEA37-FADA-4784-B32E-5FC131EB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677B8"/>
                </a:solidFill>
              </a:defRPr>
            </a:pPr>
            <a:r>
              <a:rPr sz="3150" b="1">
                <a:solidFill>
                  <a:srgbClr val="1677B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96222-EF9B-4CAD-9A39-1ECF69D6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909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FASTER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8718463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101CA5-DC2D-4BC2-8497-DF497F22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7B8"/>
                </a:solidFill>
              </a:defRPr>
            </a:pPr>
            <a:r>
              <a:rPr sz="975" b="1">
                <a:solidFill>
                  <a:srgbClr val="1677B8"/>
                </a:solidFill>
              </a:rPr>
              <a:t>CONSULTANT PITCH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CDB1B-203E-4AE1-B176-BEF67134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About i@work and the business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9F5EA-F46E-4066-BC02-5A858D63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702A7-7D16-4A32-9E2B-C13DC18C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B8"/>
                </a:solidFill>
              </a:defRPr>
            </a:pPr>
            <a:r>
              <a:rPr sz="1350" b="1">
                <a:solidFill>
                  <a:srgbClr val="1677B8"/>
                </a:solidFill>
              </a:rPr>
              <a:t>ABOUT i@work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F22FA-757E-4994-A776-7B1C4696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 consulting and advisory company serving energy-sector organisations, project developers and institutional stakeholders.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28186-C415-4737-AAC9-355E22E7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Enquiries arrive through the website, email, referrals and professional networks.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60EE1-98E4-45C4-A629-4703B6CD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56959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3F45B-E5F3-4888-851E-2C2036EB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The current challenge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177EC-57CD-457B-A83D-147583AB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C077F-229B-49F3-A9C7-D6C84644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955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Prospects may not know which service fits.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B531C-7AC7-42CC-8FCE-DC70DFF4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90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DF916-8240-47A0-BD4C-E27156CC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861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Initial enquiries may lack key project facts.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BD8A0-4970-4C1D-BED2-9CAC3B37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81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CE4FD-50C8-49A3-98B3-98775211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The team repeatedly requests clarification.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038D4-C933-43D7-985C-9B85117F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D23DB-CCC0-4FC9-BA2C-7C216870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Responses may be delayed and opportunities missed.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8527E-836A-41DA-8453-C067D399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562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1976C-0CA3-4605-ADDE-2C7919A2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7B8"/>
                </a:solidFill>
              </a:defRPr>
            </a:pPr>
            <a:r>
              <a:rPr sz="1125" b="1">
                <a:solidFill>
                  <a:srgbClr val="1677B8"/>
                </a:solidFill>
              </a:rPr>
              <a:t>COMMON GAPS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9FE41-7A7D-4ADE-8410-C7B44F5C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Location  •  Technology  •  Project stage  •  Timeline  •  Required support  •  Decision authority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5F295-35F4-467F-82A0-CA9BD03A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i@work  |  Smart Client Enquiry Qualification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0E64DF-E099-4671-BD11-226EA3A0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472"/>
                </a:solidFill>
              </a:defRPr>
            </a:pPr>
            <a:r>
              <a:rPr sz="825" b="1">
                <a:solidFill>
                  <a:srgbClr val="5B64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339180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B00DCB-FAD0-47BF-B39A-182B6532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7B8"/>
                </a:solidFill>
              </a:defRPr>
            </a:pPr>
            <a:r>
              <a:rPr sz="975" b="1">
                <a:solidFill>
                  <a:srgbClr val="1677B8"/>
                </a:solidFill>
              </a:rPr>
              <a:t>CONSULTANT PITCH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A1482-871C-4057-A080-A7FE2DA0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 guided pathway improves the first contact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13972-4AFB-4F1E-B762-1B3B97EC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D68AB-1713-424F-8049-04D262BF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The form adapts its questions to the prospect’s selected service and answers.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2D54E-5D6A-47A6-80D9-DCF095DA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670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2727A-7B80-4039-9333-D0373EC9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504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9D8EA-3759-4896-8825-2638ED2B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77B8"/>
                </a:solidFill>
              </a:defRPr>
            </a:pPr>
            <a:r>
              <a:rPr sz="1425" b="1">
                <a:solidFill>
                  <a:srgbClr val="1677B8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2F834-C9A1-4552-8A1E-EBF637F8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Select need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5E43E-905A-4010-8409-2BB347CC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670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B58F3-767C-4DE4-B96C-3EE87286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66950"/>
            <a:ext cx="1504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B906F-4D9D-4703-8FCE-06B151CA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003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77B8"/>
                </a:solidFill>
              </a:defRPr>
            </a:pPr>
            <a:r>
              <a:rPr sz="1425" b="1">
                <a:solidFill>
                  <a:srgbClr val="1677B8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F09F2-C4C2-455A-BD0E-8A4E9506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384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Answer relevant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questions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AD783-9E19-4FCF-B833-0B964841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670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D010C-95B4-4ECB-800E-747DA51E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1504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3A66E-4C60-4E18-9E72-DCE8494D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03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77B8"/>
                </a:solidFill>
              </a:defRPr>
            </a:pPr>
            <a:r>
              <a:rPr sz="1425" b="1">
                <a:solidFill>
                  <a:srgbClr val="1677B8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C932D-8C12-497C-9DD6-81A9BF4F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384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Submit project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brief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87AC6-2171-46B3-802E-B736C0D6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6165D-64EF-4C36-A17D-3E1E122B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66950"/>
            <a:ext cx="1504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6FE9D5-67CB-4E04-B680-E98CA06B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77B8"/>
                </a:solidFill>
              </a:defRPr>
            </a:pPr>
            <a:r>
              <a:rPr sz="1425" b="1">
                <a:solidFill>
                  <a:srgbClr val="1677B8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C1C70-221E-47A1-AB02-8B85E516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Check missing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information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A7B074-C8A1-4F36-B276-41E4797E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670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26F03-3518-4CCD-9347-981A2F1B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1504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88112-CF10-4336-9BC5-C15D49D1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77B8"/>
                </a:solidFill>
              </a:defRPr>
            </a:pPr>
            <a:r>
              <a:rPr sz="1425" b="1">
                <a:solidFill>
                  <a:srgbClr val="1677B8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D22222-1D99-47CF-B9C2-7AF46763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384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AI classifies &amp;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summarises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826C50-A772-4084-A93E-B0A0D240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66950"/>
            <a:ext cx="1504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D94E5A-51C6-4BDF-9DEB-DECA1030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003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77B8"/>
                </a:solidFill>
              </a:defRPr>
            </a:pPr>
            <a:r>
              <a:rPr sz="1425" b="1">
                <a:solidFill>
                  <a:srgbClr val="1677B8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170C71-971F-404E-B0C2-35F6E510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384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Human review +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next 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B659DD-E868-4B1A-B1BD-4CE22F59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B945F2-B604-4503-9EED-65D5E5CF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B8"/>
                </a:solidFill>
              </a:defRPr>
            </a:pPr>
            <a:r>
              <a:rPr sz="1350" b="1">
                <a:solidFill>
                  <a:srgbClr val="1677B8"/>
                </a:solidFill>
              </a:rPr>
              <a:t>Example branching logic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675085-EF58-4EFA-A2FD-9FA0AB36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If “Battery storage” is selected, the pathway can ask about capacity, grid-connection status and commissioning date.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A281A9-245B-4FD4-8B0D-9D4AA0DE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i@work  |  Smart Client Enquiry Qualification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6731AF-24F0-4583-94CC-B5CAABDB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472"/>
                </a:solidFill>
              </a:defRPr>
            </a:pPr>
            <a:r>
              <a:rPr sz="825" b="1">
                <a:solidFill>
                  <a:srgbClr val="5B64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73956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7F4DEC-79DD-4F61-8EF3-B5B6863D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7B8"/>
                </a:solidFill>
              </a:defRPr>
            </a:pPr>
            <a:r>
              <a:rPr sz="975" b="1">
                <a:solidFill>
                  <a:srgbClr val="1677B8"/>
                </a:solidFill>
              </a:rPr>
              <a:t>CONSULTANT PITCH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9B367-E677-42FD-B1AC-0CD16B7C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 practical, connected technology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4BECE-0A2E-4D7E-BAB7-BCB979C4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265FD-2C7B-42A5-8EC3-83531FB7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575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0B80D-6763-4D54-B7ED-0EE128C3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809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6B31E-5319-49BE-8365-ACFA9C23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Web 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930D1-6F0F-4FDD-894C-78F116AB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Microsoft Forms, Typeform</a:t>
            </a:r>
          </a:p>
          <a:p xmlns:a="http://schemas.openxmlformats.org/drawingml/2006/main">
            <a:pPr algn="ctr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or website 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00901-85D8-476A-AE94-F65AC94B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14E49-A6D9-4307-A4CE-DE1E8E11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1809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CA0AB-BBB9-4A4E-B9C5-0C9089E3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B8"/>
                </a:solidFill>
              </a:defRPr>
            </a:pPr>
            <a:r>
              <a:rPr sz="1650" b="1">
                <a:solidFill>
                  <a:srgbClr val="1677B8"/>
                </a:solidFill>
              </a:rPr>
              <a:t>n8n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9814E-627F-4C69-A3B9-0AE2F4FF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03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Validation, routing</a:t>
            </a:r>
          </a:p>
          <a:p xmlns:a="http://schemas.openxmlformats.org/drawingml/2006/main">
            <a:pPr algn="ctr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and integrations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4229B-B215-4239-B9B5-91036CC0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F645A-9E5D-441F-BC7F-34CD81C5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1809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4403E-925B-4564-AEBC-C22B7821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05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AI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C02B1-4A65-4D41-9207-BE2259C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Classification, summary</a:t>
            </a:r>
          </a:p>
          <a:p xmlns:a="http://schemas.openxmlformats.org/drawingml/2006/main">
            <a:pPr algn="ctr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and drafting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6805D-C7C3-47AD-BF59-FA54D5B7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A6976-8543-4079-B6E0-D7E5BC15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1809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192F9-576D-4C1E-AE55-6954458F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05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Human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53983-6E27-4E34-AE9E-F92D84E8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003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Approval before</a:t>
            </a:r>
          </a:p>
          <a:p xmlns:a="http://schemas.openxmlformats.org/drawingml/2006/main">
            <a:pPr algn="ctr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external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BDEA2-6AA8-44F3-9CBF-A45346FC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1809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7640B-5926-4CB3-A349-FE113451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05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CRM / email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44B625-1E43-417D-BA93-AC1EDF59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003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Record, respond</a:t>
            </a:r>
          </a:p>
          <a:p xmlns:a="http://schemas.openxmlformats.org/drawingml/2006/main">
            <a:pPr algn="ctr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and 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9B3F0-CBF4-4892-8468-E6CD23EA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B8"/>
                </a:solidFill>
              </a:defRPr>
            </a:pPr>
            <a:r>
              <a:rPr sz="1350" b="1">
                <a:solidFill>
                  <a:srgbClr val="1677B8"/>
                </a:solidFill>
              </a:rPr>
              <a:t>Optional measurement layer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C36A51-F181-4F94-8326-98F5BD60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CEC80E-C9EE-4D22-8A7A-FC60C0F4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1032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Power BI tracks completeness, response time, clarification exchanges, accuracy and user feedback.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E5F8F5-07B6-4C94-B7D4-07950FD5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i@work  |  Smart Client Enquiry Qualification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4E0A5E-2E3B-4C7B-85EA-3D8B63A1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472"/>
                </a:solidFill>
              </a:defRPr>
            </a:pPr>
            <a:r>
              <a:rPr sz="825" b="1">
                <a:solidFill>
                  <a:srgbClr val="5B64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354216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ED92DA-508B-4121-BC71-9800219E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7B8"/>
                </a:solidFill>
              </a:defRPr>
            </a:pPr>
            <a:r>
              <a:rPr sz="975" b="1">
                <a:solidFill>
                  <a:srgbClr val="1677B8"/>
                </a:solidFill>
              </a:rPr>
              <a:t>CONSULTANT PITCH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BDED7-529C-4057-ABB1-79D7A775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Example: a battery-storage enquiry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923AF-44E2-4BFA-8B56-53040AF3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1A8D7-3035-4685-AA0B-DB4C7A5E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762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B54BE-E34A-4D4E-A53E-94B4C67D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B8"/>
                </a:solidFill>
              </a:defRPr>
            </a:pPr>
            <a:r>
              <a:rPr sz="1275" b="1">
                <a:solidFill>
                  <a:srgbClr val="1677B8"/>
                </a:solidFill>
              </a:rPr>
              <a:t>PROSPECT SUBMITS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D2BE0-9D74-478E-B7F8-FEAA352D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“We need support for a new battery-storage project.”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D6634-2268-4505-B1BA-A7539E1B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The initial message is useful—but not yet ready for qualification.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CE667-582E-4038-9FBB-7925A61A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56959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26E6B-DDA2-48FD-80E3-B7776EDC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B8"/>
                </a:solidFill>
              </a:defRPr>
            </a:pPr>
            <a:r>
              <a:rPr sz="1275" b="1">
                <a:solidFill>
                  <a:srgbClr val="1677B8"/>
                </a:solidFill>
              </a:rPr>
              <a:t>THE PATHWAY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910E1-0E9F-4A3B-BD9C-8584243D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66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75EE5-12BB-4F2B-BF7F-51539EDA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Storage capacity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DA861-46F3-48ED-83A9-23B44B0C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24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990D1-4CE3-415F-87B9-7D5FBA9D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194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Grid-connection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92456-04E3-4622-B51C-125039A4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C6B8C-4BEB-480F-944F-A4F05CC1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Commissioning 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DFE38-9837-4F81-BE30-92E8223F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38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4EE95-CB34-4BCF-8B95-B15BC57F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Project location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CCA20-92A0-4F3F-9FE4-2B514B06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95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C7AE8-ADDD-47B0-B150-24518ED3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Commercial or technical support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15911-49CD-43DC-8C44-A47B8448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5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4743EE-B3BD-4BFC-A85F-3D1C6539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482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Relevant decision-makers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326A9B-9EA3-48A9-AD90-30D5F3E4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i@work  |  Smart Client Enquiry Qualification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2109F8-A855-4A2C-8024-23B71ECC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472"/>
                </a:solidFill>
              </a:defRPr>
            </a:pPr>
            <a:r>
              <a:rPr sz="825" b="1">
                <a:solidFill>
                  <a:srgbClr val="5B64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28589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4C133-4E5F-4696-B913-340BDFB2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7B8"/>
                </a:solidFill>
              </a:defRPr>
            </a:pPr>
            <a:r>
              <a:rPr sz="975" b="1">
                <a:solidFill>
                  <a:srgbClr val="1677B8"/>
                </a:solidFill>
              </a:rPr>
              <a:t>CONSULTANT PITCH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63C1F-55FD-4F3B-8BC4-3381C072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AI prepares the enquiry for human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42A62-D5FE-4AD9-9086-375593AF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0EC31-786B-4D8B-AF25-D1248DC9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0673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C1A92-2EFD-42DA-91AD-8EEC1B50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B8"/>
                </a:solidFill>
              </a:defRPr>
            </a:pPr>
            <a:r>
              <a:rPr sz="1125" b="1">
                <a:solidFill>
                  <a:srgbClr val="1677B8"/>
                </a:solidFill>
              </a:rPr>
              <a:t>SERVICE CATEGORY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A4505-0B9E-4EEE-AD4D-6A822D47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Potential battery-storage advisory 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4C1CF-F439-46C9-A23E-0344B10E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71650"/>
            <a:ext cx="50673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0E5E1-D89E-4D63-8C01-E1C3DEE3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B8"/>
                </a:solidFill>
              </a:defRPr>
            </a:pPr>
            <a:r>
              <a:rPr sz="1125" b="1">
                <a:solidFill>
                  <a:srgbClr val="1677B8"/>
                </a:solidFill>
              </a:rPr>
              <a:t>STRUCTURED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AADCC-9B10-4684-8A3D-009F277A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Project facts organised into a consistent internal 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A650F-D9CA-40BB-BFD8-186C6260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0673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9FA20-7D65-452C-98D0-7F1D59EE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B8"/>
                </a:solidFill>
              </a:defRPr>
            </a:pPr>
            <a:r>
              <a:rPr sz="1125" b="1">
                <a:solidFill>
                  <a:srgbClr val="1677B8"/>
                </a:solidFill>
              </a:rPr>
              <a:t>MISSING INFORMATION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7FC01-7BC0-44C5-AEAD-4A595CF5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Specific gaps highlighted before the team responds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52261-833D-4132-8334-99197CAA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50673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5287F-1F0A-47EF-8666-4CAADFA2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B8"/>
                </a:solidFill>
              </a:defRPr>
            </a:pPr>
            <a:r>
              <a:rPr sz="1125" b="1">
                <a:solidFill>
                  <a:srgbClr val="1677B8"/>
                </a:solidFill>
              </a:rPr>
              <a:t>FOLLOW-UP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AC86C-CF82-46FC-8D56-EF9E7CF8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Suggested questions and a draft clarification email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8F6B6-7F33-4D8D-B1FB-C8D80E72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All outputs require human review. The tool gives no technical advice and makes no service commitment.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19E84-C6D5-4303-951E-594BB1F1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i@work  |  Smart Client Enquiry Qualification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2AFC19-D485-4A88-93F3-938D1CBD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472"/>
                </a:solidFill>
              </a:defRPr>
            </a:pPr>
            <a:r>
              <a:rPr sz="825" b="1">
                <a:solidFill>
                  <a:srgbClr val="5B64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458939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C230A0-B2E3-4397-8A51-4D003B9D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7B8"/>
                </a:solidFill>
              </a:defRPr>
            </a:pPr>
            <a:r>
              <a:rPr sz="975" b="1">
                <a:solidFill>
                  <a:srgbClr val="1677B8"/>
                </a:solidFill>
              </a:rPr>
              <a:t>CONSULTANT PITCH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2A178-D4CE-487E-AB3D-6106589E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Expected value for i@work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36702-9B5B-4B8D-AA72-25017C18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21BFB-F9C7-410F-B8F3-B21B964D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B8"/>
                </a:solidFill>
              </a:defRPr>
            </a:pPr>
            <a:r>
              <a:rPr sz="1800" b="1">
                <a:solidFill>
                  <a:srgbClr val="1677B8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881D8-2197-4A87-91B1-D6E0F2C0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0500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9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474A6-7F34-41A5-8363-EC5E4052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764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Less repeated clarification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E5C3E-A587-4F14-A5A1-8B63FF78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B8"/>
                </a:solidFill>
              </a:defRPr>
            </a:pPr>
            <a:r>
              <a:rPr sz="1800" b="1">
                <a:solidFill>
                  <a:srgbClr val="1677B8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50CAD-000C-4488-ADA0-6B966097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9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6F0B2-33DD-43E6-AE95-0F571882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955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More consistent enquiry information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F8F46-7394-401B-B33F-090817BA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B8"/>
                </a:solidFill>
              </a:defRPr>
            </a:pPr>
            <a:r>
              <a:rPr sz="1800" b="1">
                <a:solidFill>
                  <a:srgbClr val="1677B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E1F80-8490-47C7-A2A7-5CB1AA0D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9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6F94E-7446-4621-833C-EE4553A2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147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Faster, more focused responses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B81BC-E8C2-4844-B99D-5AD7B271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B8"/>
                </a:solidFill>
              </a:defRPr>
            </a:pPr>
            <a:r>
              <a:rPr sz="1800" b="1">
                <a:solidFill>
                  <a:srgbClr val="1677B8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BADDA-1D72-4E28-913C-9152B5F5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9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0BA31-D13E-47B0-BE70-831FB8C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338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Better follow-up prioritisation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66924-F750-4228-BF72-41E2A330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B8"/>
                </a:solidFill>
              </a:defRPr>
            </a:pPr>
            <a:r>
              <a:rPr sz="1800" b="1">
                <a:solidFill>
                  <a:srgbClr val="1677B8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42BE8C-29B3-44DA-902A-276DFA97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9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24F851-BBCB-4A74-80E4-3A5DB285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53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Visibility of recurring enquiry patterns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A1691-6437-4F27-8524-0E6C3B9E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i@work  |  Smart Client Enquiry Qualification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F31289-8F71-42BF-AFC8-4CC3DCDA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472"/>
                </a:solidFill>
              </a:defRPr>
            </a:pPr>
            <a:r>
              <a:rPr sz="825" b="1">
                <a:solidFill>
                  <a:srgbClr val="5B64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361371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9E31D6-54F9-46D4-A6B0-F94CC53F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7B8"/>
                </a:solidFill>
              </a:defRPr>
            </a:pPr>
            <a:r>
              <a:rPr sz="975" b="1">
                <a:solidFill>
                  <a:srgbClr val="1677B8"/>
                </a:solidFill>
              </a:rPr>
              <a:t>CONSULTANT PITCH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EADE7-F181-4446-A75C-A28C45D6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KPIs to track during the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0EF2A-8D87-4E92-8CF1-FC40E326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97C79-D2B7-457B-AF45-79638BF9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333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63AFC-B69D-402D-8D67-650A90CE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B8"/>
                </a:solidFill>
              </a:defRPr>
            </a:pPr>
            <a:r>
              <a:rPr sz="1200" b="1">
                <a:solidFill>
                  <a:srgbClr val="1677B8"/>
                </a:solidFill>
              </a:rPr>
              <a:t>PRIMARY 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077DC-A457-4DFC-913A-2CCC2DEC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827"/>
                </a:solidFill>
              </a:defRPr>
            </a:pPr>
            <a:r>
              <a:rPr sz="4650" b="1">
                <a:solidFill>
                  <a:srgbClr val="111827"/>
                </a:solidFill>
              </a:rPr>
              <a:t>≥80%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94D3A-BBBF-40F3-9B98-75E9993A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of pilot enquiries contain all required qualification fields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5984A-DD56-4A5B-ADEB-CAFC9198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Compared with the initial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9E9BF-3F3D-4104-90F1-AB6F0519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38300"/>
            <a:ext cx="3200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B9829-DBEE-4397-AD83-C6B16C2C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859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First-response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18ECB-0A6C-4AD8-80DA-32901C62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Time from enquiry to meaningful reply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E4BF6-B1DD-4936-A4A1-0D4DC182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00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C9305-C7CA-4872-AB4F-64E7C64D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Clarification exchanges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57C35-6415-4B48-8923-BF5802C8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Average follow-up cycles per enquiry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3F6DE-9734-4BE0-8830-B3D4B725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3200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F4EA6-BE8D-4D87-B276-B5D63F00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Accuracy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C919F-CE8C-4775-B014-87C6E3CE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624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Classification and summary 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6F77E3-3569-44F1-89E3-1BF70A5D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38550"/>
            <a:ext cx="3200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7D45A-AE4B-48FE-A8A2-2A2F573F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Business feedback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30740D-D6DB-4608-9AC3-D48F0556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624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Usefulness rating from the team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30A5E9-7553-4A4C-927C-352A78EE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i@work  |  Smart Client Enquiry Qualification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4BD15-76D9-4584-B23D-CA293E8B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472"/>
                </a:solidFill>
              </a:defRPr>
            </a:pPr>
            <a:r>
              <a:rPr sz="825" b="1">
                <a:solidFill>
                  <a:srgbClr val="5B64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544053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61177-4F80-4878-A8AA-D9B0D32D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7B8"/>
                </a:solidFill>
              </a:defRPr>
            </a:pPr>
            <a:r>
              <a:rPr sz="975" b="1">
                <a:solidFill>
                  <a:srgbClr val="1677B8"/>
                </a:solidFill>
              </a:rPr>
              <a:t>CONSULTANT PITCH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8540A-3C4A-4061-8808-591CA7A4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baseline makes improvement measurable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6959F-79D6-4C05-A263-2E821A64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322DF-E19B-4ECD-9392-C46D554B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</a:defRPr>
            </a:pPr>
            <a:r>
              <a:rPr sz="1725" b="0">
                <a:solidFill>
                  <a:srgbClr val="5B6472"/>
                </a:solidFill>
              </a:rPr>
              <a:t>Review three months of enquiry and email records before the pilot.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EA219-86E5-4616-8FE3-D59A5C12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0673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B8693-F080-4A2E-A3BF-95513528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54102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567B6-DFDE-4012-89BE-06E95FEA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B8"/>
                </a:solidFill>
              </a:defRPr>
            </a:pPr>
            <a:r>
              <a:rPr sz="1275" b="1">
                <a:solidFill>
                  <a:srgbClr val="1677B8"/>
                </a:solidFill>
              </a:rPr>
              <a:t>CURRENT 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0DF3D-3157-4703-B189-4F1599F6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19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C3CC7-94E0-4BEA-BD47-4B560A84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Current enquiry-completeness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B884C-4089-40F3-8983-466F9734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1CF65-292F-4859-A1C0-F9DAA938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Current first-response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0F84F-005E-4DF6-B0DC-3431F6A7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121CD-040C-4171-BE04-BB411C19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Average clarification exchanges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E890A-2533-4F55-B2A3-D79D3703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B8"/>
                </a:solidFill>
              </a:defRPr>
            </a:pPr>
            <a:r>
              <a:rPr sz="1275" b="1">
                <a:solidFill>
                  <a:srgbClr val="1677B8"/>
                </a:solidFill>
              </a:rPr>
              <a:t>DISCOVERY INSIGHTS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3DC42-21DB-45A0-9B5F-C4D8F2E9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19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29001-2E9E-4FD0-BB4C-A7059EFB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1465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Common missing information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852A2-FA76-48D8-9AD9-DA7B8D44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1C9AF-37D4-4C91-AFAE-B43A6516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052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Recurring services and enquiry types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9BE32-CD3D-444E-A961-BACF2586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3CB24-7C44-4D80-86AB-7299343C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Data-access and GDPR requirements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111100-865D-448D-A895-E92759B4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Baseline  →  Pilot result  →  Evidence-based recommendation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1538B0-49F8-4D01-90B5-143ECD94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i@work  |  Smart Client Enquiry Qualification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8BC0D-B68E-4C06-B191-45CEAB8A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472"/>
                </a:solidFill>
              </a:defRPr>
            </a:pPr>
            <a:r>
              <a:rPr sz="825" b="1">
                <a:solidFill>
                  <a:srgbClr val="5B64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309460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4B3332-AB71-4F74-BB79-38397475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7B8"/>
                </a:solidFill>
              </a:defRPr>
            </a:pPr>
            <a:r>
              <a:rPr sz="975" b="1">
                <a:solidFill>
                  <a:srgbClr val="1677B8"/>
                </a:solidFill>
              </a:rPr>
              <a:t>CONSULTANT PITCH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185F4-5DCD-41DD-982A-3D4853F8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Human control remains mandatory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85DF1-C4B9-4C48-905D-F72AD5A0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35F01-4069-44BB-9969-7FFB039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0673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A733D-EDDE-4E63-8923-4BE0AE78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B8"/>
                </a:solidFill>
              </a:defRPr>
            </a:pPr>
            <a:r>
              <a:rPr sz="1275" b="1">
                <a:solidFill>
                  <a:srgbClr val="1677B8"/>
                </a:solidFill>
              </a:rPr>
              <a:t>HUMAN APPROVAL REQUIRED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FCDB9-DE41-4703-A53A-DCC58206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D8658-DC13-4091-89CF-E3E6AF9D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84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Technical advice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54E99-40EB-43DF-A145-4245C22F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43679-6581-42C7-B8C2-6A8CE291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Service-fit confirmation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E0855-7671-470A-8DCA-6C8B0266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86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C2DCB-9007-4CFB-867F-258FAC0E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Pricing and proposals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C87CF-26BC-4279-958F-97BA56C4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E106E-F06C-4C69-825B-EBB9DD02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Contracts and external commitments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2F21D-1F16-4907-8EC4-33098094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410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BC1DA-FCF8-4789-B835-D675E2DB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43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B8"/>
                </a:solidFill>
              </a:defRPr>
            </a:pPr>
            <a:r>
              <a:rPr sz="1275" b="1">
                <a:solidFill>
                  <a:srgbClr val="1677B8"/>
                </a:solidFill>
              </a:rPr>
              <a:t>PILOT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7C50E-3EB7-46C1-9D3F-55E83041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43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991D0-B783-44AD-8C2A-E0EC034A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384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Approved or anonymised information 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6A613-135A-4933-9213-1C0F801F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EC1C3F-E089-4BAA-89ED-632F31F4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99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No restricted data in external AI 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C1292-CE2F-4F31-98D0-F2A0298E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86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98A25-D51F-4450-9BBD-1724513B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814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No autonomous client decisions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AC5C03-6740-4C87-8833-648204EB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57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634D7-4475-4C33-AE64-D49F6325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Uncertain cases escalated to the team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48541-95D1-42BA-A274-B2AC77AA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i@work  |  Smart Client Enquiry Qualification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24C1CD-D266-4A00-AEAE-7B7DA437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472"/>
                </a:solidFill>
              </a:defRPr>
            </a:pPr>
            <a:r>
              <a:rPr sz="825" b="1">
                <a:solidFill>
                  <a:srgbClr val="5B647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6233232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53F51-3CB7-405E-8386-C71F1193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7B8"/>
                </a:solidFill>
              </a:defRPr>
            </a:pPr>
            <a:r>
              <a:rPr sz="975" b="1">
                <a:solidFill>
                  <a:srgbClr val="1677B8"/>
                </a:solidFill>
              </a:rPr>
              <a:t>CONSULTANT PITCH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D9113-AA78-476C-980D-6F63D4A0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 focused 6–8 week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B05A5-0E30-4B94-B357-FF725193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AEDAD-90C4-4B83-851E-AFFBFE98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E6623-5FC7-4EE4-812A-5D6111F7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B8"/>
                </a:solidFill>
              </a:defRPr>
            </a:pPr>
            <a:r>
              <a:rPr sz="1200" b="1">
                <a:solidFill>
                  <a:srgbClr val="1677B8"/>
                </a:solidFill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D7FA6-9EBF-46FC-94C0-081DB7BC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1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Confirm scope, stakeholders, data access and GDPR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429E8-C9A2-440A-A331-09E11CB6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427A3-E060-4880-B5A1-F894D46B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B8"/>
                </a:solidFill>
              </a:defRPr>
            </a:pPr>
            <a:r>
              <a:rPr sz="1200" b="1">
                <a:solidFill>
                  <a:srgbClr val="1677B8"/>
                </a:solidFill>
              </a:rPr>
              <a:t>WEEKS 1–2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C33F4-9D76-41FA-9D70-DB42C824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384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Analyse historical enquiries and establish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16DFB-65B7-4311-8ED1-706632A7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CBAE9-95DE-4CCA-9953-59BFBF6F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B8"/>
                </a:solidFill>
              </a:defRPr>
            </a:pPr>
            <a:r>
              <a:rPr sz="1200" b="1">
                <a:solidFill>
                  <a:srgbClr val="1677B8"/>
                </a:solidFill>
              </a:rPr>
              <a:t>WEEKS 2–4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763BD-85BB-43F7-866C-8EBAAF4F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575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Define questions, rules and configure the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769D8-7568-4312-9690-E2D70314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6732B-60A7-41D9-B95A-CF5137A3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B8"/>
                </a:solidFill>
              </a:defRPr>
            </a:pPr>
            <a:r>
              <a:rPr sz="1200" b="1">
                <a:solidFill>
                  <a:srgbClr val="1677B8"/>
                </a:solidFill>
              </a:rPr>
              <a:t>WEEKS 5–8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5DE0F-113C-4FB6-86B1-B9DB24D8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767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Run pilot, monitor KPIs and collect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BBDD7-AE14-4BD9-B422-A982061D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EB80D-6D67-4FEA-92E3-E8FC1F8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B8"/>
                </a:solidFill>
              </a:defRPr>
            </a:pPr>
            <a:r>
              <a:rPr sz="1200" b="1">
                <a:solidFill>
                  <a:srgbClr val="1677B8"/>
                </a:solidFill>
              </a:rPr>
              <a:t>PILOT 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05F1C-829E-4102-91D7-A697F13D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958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Compare results and recommend next step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634F2-4204-4C2D-B06B-0A63F69E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i@work owns business decisions  •  Consultant designs and evaluates  •  AI supports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6D9D3-3B58-4C77-B4E8-CA9EFA0F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i@work  |  Smart Client Enquiry Qualification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6A7095-5C03-47D2-BF94-4E0D4E5A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472"/>
                </a:solidFill>
              </a:defRPr>
            </a:pPr>
            <a:r>
              <a:rPr sz="825" b="1">
                <a:solidFill>
                  <a:srgbClr val="5B647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417037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DD0F8-A50F-4D21-9980-241FAE28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DF1FA"/>
                </a:solidFill>
              </a:defRPr>
            </a:pPr>
            <a:r>
              <a:rPr sz="1125" b="1">
                <a:solidFill>
                  <a:srgbClr val="DDF1FA"/>
                </a:solidFill>
              </a:rPr>
              <a:t>RECOMMENDED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EFACC-EB76-40BA-94CF-579FEA90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Approve the discovery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D4D64-2031-4764-B88C-1CEB8FCA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DEE7"/>
                </a:solidFill>
              </a:defRPr>
            </a:pPr>
            <a:r>
              <a:rPr sz="1875" b="0">
                <a:solidFill>
                  <a:srgbClr val="D7DEE7"/>
                </a:solidFill>
              </a:rPr>
              <a:t>Subject to data availability and GDPR requirements, proceed with a controlled 6–8 week pilot.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3A55F-8164-4914-BD15-3BA1B882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A7EC0-EA7B-4BFA-81C0-CE5ACCBF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DF1FA"/>
                </a:solidFill>
              </a:defRPr>
            </a:pPr>
            <a:r>
              <a:rPr sz="1500" b="1">
                <a:solidFill>
                  <a:srgbClr val="DDF1FA"/>
                </a:solidFill>
              </a:rPr>
              <a:t>The goal is simple: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4E9AB-00D8-4DD8-92E4-0284FEB6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781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Better-qualified enquiries.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More efficient responses.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9FC25-B178-499A-A33F-1151A0DC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2CE"/>
                </a:solidFill>
              </a:defRPr>
            </a:pPr>
            <a:r>
              <a:rPr sz="1275" b="0">
                <a:solidFill>
                  <a:srgbClr val="B9C2CE"/>
                </a:solidFill>
              </a:rPr>
              <a:t>Confirm the internal stakeholders who should participate.</a:t>
            </a:r>
          </a:p>
        </p:txBody>
      </p:sp>
    </p:spTree>
    <p:extLst>
      <p:ext uri="{BB962C8B-B14F-4D97-AF65-F5344CB8AC3E}">
        <p14:creationId xmlns:p14="http://schemas.microsoft.com/office/powerpoint/2010/main" val="15942736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2026-09-04T15:32:14.6780000Z</dcterms:created>
  <dcterms:modified xsi:type="dcterms:W3CDTF">2026-09-04T15:32:14.6780000Z</dcterms:modified>
</coreProperties>
</file>